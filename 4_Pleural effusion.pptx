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 /><Relationship Id="rId2" Type="http://schemas.openxmlformats.org/package/2006/relationships/metadata/thumbnail" Target="docProps/thumbnail.jpeg" /><Relationship Id="rId1" Type="http://schemas.openxmlformats.org/officeDocument/2006/relationships/officeDocument" Target="ppt/presentation.xml" /><Relationship Id="rId5" Type="http://schemas.openxmlformats.org/officeDocument/2006/relationships/custom-properties" Target="docProps/custom.xml" /><Relationship Id="rId4" Type="http://schemas.openxmlformats.org/officeDocument/2006/relationships/extended-properties" Target="docProps/app.xml" /></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68" d="100"/>
          <a:sy n="68" d="100"/>
        </p:scale>
        <p:origin x="-1434" y="-9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 /><Relationship Id="rId13" Type="http://schemas.openxmlformats.org/officeDocument/2006/relationships/slide" Target="slides/slide12.xml" /><Relationship Id="rId18" Type="http://schemas.openxmlformats.org/officeDocument/2006/relationships/slide" Target="slides/slide17.xml" /><Relationship Id="rId26" Type="http://schemas.openxmlformats.org/officeDocument/2006/relationships/tableStyles" Target="tableStyles.xml" /><Relationship Id="rId3" Type="http://schemas.openxmlformats.org/officeDocument/2006/relationships/slide" Target="slides/slide2.xml" /><Relationship Id="rId21" Type="http://schemas.openxmlformats.org/officeDocument/2006/relationships/slide" Target="slides/slide20.xml" /><Relationship Id="rId7" Type="http://schemas.openxmlformats.org/officeDocument/2006/relationships/slide" Target="slides/slide6.xml" /><Relationship Id="rId12" Type="http://schemas.openxmlformats.org/officeDocument/2006/relationships/slide" Target="slides/slide11.xml" /><Relationship Id="rId17" Type="http://schemas.openxmlformats.org/officeDocument/2006/relationships/slide" Target="slides/slide16.xml" /><Relationship Id="rId25" Type="http://schemas.openxmlformats.org/officeDocument/2006/relationships/theme" Target="theme/theme1.xml" /><Relationship Id="rId2" Type="http://schemas.openxmlformats.org/officeDocument/2006/relationships/slide" Target="slides/slide1.xml" /><Relationship Id="rId16" Type="http://schemas.openxmlformats.org/officeDocument/2006/relationships/slide" Target="slides/slide15.xml" /><Relationship Id="rId20" Type="http://schemas.openxmlformats.org/officeDocument/2006/relationships/slide" Target="slides/slide19.xml" /><Relationship Id="rId1" Type="http://schemas.openxmlformats.org/officeDocument/2006/relationships/slideMaster" Target="slideMasters/slideMaster1.xml" /><Relationship Id="rId6" Type="http://schemas.openxmlformats.org/officeDocument/2006/relationships/slide" Target="slides/slide5.xml" /><Relationship Id="rId11" Type="http://schemas.openxmlformats.org/officeDocument/2006/relationships/slide" Target="slides/slide10.xml" /><Relationship Id="rId24" Type="http://schemas.openxmlformats.org/officeDocument/2006/relationships/viewProps" Target="viewProps.xml" /><Relationship Id="rId5" Type="http://schemas.openxmlformats.org/officeDocument/2006/relationships/slide" Target="slides/slide4.xml" /><Relationship Id="rId15" Type="http://schemas.openxmlformats.org/officeDocument/2006/relationships/slide" Target="slides/slide14.xml" /><Relationship Id="rId23" Type="http://schemas.openxmlformats.org/officeDocument/2006/relationships/presProps" Target="presProps.xml" /><Relationship Id="rId10" Type="http://schemas.openxmlformats.org/officeDocument/2006/relationships/slide" Target="slides/slide9.xml" /><Relationship Id="rId19" Type="http://schemas.openxmlformats.org/officeDocument/2006/relationships/slide" Target="slides/slide18.xml" /><Relationship Id="rId4" Type="http://schemas.openxmlformats.org/officeDocument/2006/relationships/slide" Target="slides/slide3.xml" /><Relationship Id="rId9" Type="http://schemas.openxmlformats.org/officeDocument/2006/relationships/slide" Target="slides/slide8.xml" /><Relationship Id="rId14" Type="http://schemas.openxmlformats.org/officeDocument/2006/relationships/slide" Target="slides/slide13.xml" /><Relationship Id="rId22" Type="http://schemas.openxmlformats.org/officeDocument/2006/relationships/slide" Target="slides/slide21.xml" /></Relationships>
</file>

<file path=ppt/ink/ink1.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19-08-20T23:51:34"/>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395 354,'0'-22,"24"22,1 0,48 0,-48 0,-1 0,1 0,48 0,-49 0,1 0,-1 0,25 44,0-22,-25-22,1 0,-1 0,1 0,48 22,-49-22,25 0,-24 0,24 0,-25 0,25 21,24 23,-48-44,-1 0,1 0,-1 0,25 0,-25 0,1 0,-1 0,1 0,-1 0,1 0,23 0,-23 0,-1 0,1 0,-1 0,1 0,-1 0,25 0,-25 0,1 0,24 0,-25 0,1 0</inkml:trace>
</inkml:ink>
</file>

<file path=ppt/ink/ink2.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19-08-20T23:51:34"/>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2007 323,'-25'0,"1"0,-1 0,1 0,-1 0,1 0,-25 0,25 0,-1 0,1 0,-1 0,1 0,-49 0,48 0,1 0,-1 0,1 0,-1 0,-23 0,23 0,1 0,-1 0,1 0,-1 0,1 0,-25 0,25 0,-1 0,1 0,-1 0,1 0,0 0,-1 0,-24 0,25 0,-1 0,1 0,0 0,-1 0,1 0,-25 0,24 0,1 0,-1 0,1 0,0 0,-1 0,-24 0,25 0,-1 0,1 0,0 0,-1 0,1 0,-25 0,24 0,1 0</inkml:trace>
</inkml:ink>
</file>

<file path=ppt/ink/ink3.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19-08-20T23:51:34"/>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393 344,'24'13,"25"-13,-24 0,-1 0,1 0,-1 0,0 0,1 0,24 0,-25 0,1 0,-1 0,0 0,1 0,-1 0,25 0,-24 0,-1 0,1 0,-1 0,0 0,1 0,-1 0,50 0,-50 0,25 0,-25 0,1 0,24 0,-25 0,0 0,1 0,-1 0,1 0,-1 0,25 0,-25 0,1 0,-1 0,1 0,-1 0,1 0,24 0,-25 0,0 0,1 0,-1 0,1 0,-1 0,1 0,23 0,-23 0,-1 0,1 0,-1 0,1 0</inkml:trace>
</inkml:ink>
</file>

<file path=ppt/ink/ink4.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19-08-20T23:51:34"/>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554 211,'1'0,"0"0,1 0,-1 0,0 0,1 0,-1 0,2 0,-2 0,1 0,-1 0,2 0,-2 0,1 0,1 0,0 0,-1 0,1 0,-1 0,1 0,-2 0,0 0,0 0,0 0,0 0,1 0,-1 0,0 0,0 0,0 0,0 0,0 0,1 0,-1 0,0 0,0 0,0 0,0 0,0 0,1 0,-1 0,0 0,0 0,0 0,0 0,2 0,-2 0,0 0,0 0,0 0,0 0,0 0,1 0,-1 0,0 0,0 0,0 0,0 0,0 0,1 0,-1 0,0 0,0 0,0 0,2 0,-1 2,0-2,-1 0,0 0,1 0,1 0,-1 0,1 0,-2 0,0 0,0 0,0 0,2 0,-2 0,1 0,0 0,0 0,-1 0,0 0,0 0,1 0,-1 0,0 0,0 0,1 0,-1 0,2 0,-2 0,1 0,0 0,-1 0,0 0,0 0,1 0,0 0,0 0,-1 0,0 0,0 0,1 0,-1 0,0 0,0 0,1 0,-1 0,1 0,-1 0,0 0,0 0,0 0,0 0,0 0,1 0,-1 0,0 0,0 0,0 0,0 0,0 0,1 0,-1 0,0 0,0 0,1 0,0 0,-1 0,0 0,0 0,0 0,0 0,0 0,0 0,1 0,-1 0,0 0,0 0,0 0,0 0</inkml:trace>
</inkml:ink>
</file>

<file path=ppt/ink/ink5.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19-08-20T23:51:34"/>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-165 721,'6'0</inkml:trace>
</inkml:ink>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t>11/22/2024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t>11/22/2024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t>11/22/2024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t>11/22/2024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t>11/22/2024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t>11/22/2024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t>11/22/2024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t>11/22/2024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t>11/22/2024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t>11/22/2024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t>11/22/2024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 /><Relationship Id="rId3" Type="http://schemas.openxmlformats.org/officeDocument/2006/relationships/slideLayout" Target="../slideLayouts/slideLayout3.xml" /><Relationship Id="rId7" Type="http://schemas.openxmlformats.org/officeDocument/2006/relationships/slideLayout" Target="../slideLayouts/slideLayout7.xml" /><Relationship Id="rId12" Type="http://schemas.openxmlformats.org/officeDocument/2006/relationships/theme" Target="../theme/theme1.xml" /><Relationship Id="rId2" Type="http://schemas.openxmlformats.org/officeDocument/2006/relationships/slideLayout" Target="../slideLayouts/slideLayout2.xml" /><Relationship Id="rId1" Type="http://schemas.openxmlformats.org/officeDocument/2006/relationships/slideLayout" Target="../slideLayouts/slideLayout1.xml" /><Relationship Id="rId6" Type="http://schemas.openxmlformats.org/officeDocument/2006/relationships/slideLayout" Target="../slideLayouts/slideLayout6.xml" /><Relationship Id="rId11" Type="http://schemas.openxmlformats.org/officeDocument/2006/relationships/slideLayout" Target="../slideLayouts/slideLayout11.xml" /><Relationship Id="rId5" Type="http://schemas.openxmlformats.org/officeDocument/2006/relationships/slideLayout" Target="../slideLayouts/slideLayout5.xml" /><Relationship Id="rId10" Type="http://schemas.openxmlformats.org/officeDocument/2006/relationships/slideLayout" Target="../slideLayouts/slideLayout10.xml" /><Relationship Id="rId4" Type="http://schemas.openxmlformats.org/officeDocument/2006/relationships/slideLayout" Target="../slideLayouts/slideLayout4.xml" /><Relationship Id="rId9" Type="http://schemas.openxmlformats.org/officeDocument/2006/relationships/slideLayout" Target="../slideLayouts/slideLayout9.xml" /></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t>11/22/2024</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 standalone="yes"?>
<Relationships xmlns="http://schemas.openxmlformats.org/package/2006/relationships"><Relationship Id="rId3" Type="http://schemas.openxmlformats.org/officeDocument/2006/relationships/image" Target="../media/image1.png" /><Relationship Id="rId7" Type="http://schemas.openxmlformats.org/officeDocument/2006/relationships/image" Target="../media/image3.png" /><Relationship Id="rId2" Type="http://schemas.openxmlformats.org/officeDocument/2006/relationships/customXml" Target="../ink/ink1.xml" /><Relationship Id="rId1" Type="http://schemas.openxmlformats.org/officeDocument/2006/relationships/slideLayout" Target="../slideLayouts/slideLayout2.xml" /><Relationship Id="rId6" Type="http://schemas.openxmlformats.org/officeDocument/2006/relationships/customXml" Target="../ink/ink3.xml" /><Relationship Id="rId5" Type="http://schemas.openxmlformats.org/officeDocument/2006/relationships/image" Target="../media/image2.png" /><Relationship Id="rId4" Type="http://schemas.openxmlformats.org/officeDocument/2006/relationships/customXml" Target="../ink/ink2.xml" /></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5.xml.rels><?xml version="1.0" encoding="UTF-8" standalone="yes"?>
<Relationships xmlns="http://schemas.openxmlformats.org/package/2006/relationships"><Relationship Id="rId3" Type="http://schemas.openxmlformats.org/officeDocument/2006/relationships/image" Target="../media/image4.png" /><Relationship Id="rId2" Type="http://schemas.openxmlformats.org/officeDocument/2006/relationships/customXml" Target="../ink/ink4.xml" /><Relationship Id="rId1" Type="http://schemas.openxmlformats.org/officeDocument/2006/relationships/slideLayout" Target="../slideLayouts/slideLayout2.xml" /></Relationships>
</file>

<file path=ppt/slides/_rels/slide6.xml.rels><?xml version="1.0" encoding="UTF-8" standalone="yes"?>
<Relationships xmlns="http://schemas.openxmlformats.org/package/2006/relationships"><Relationship Id="rId3" Type="http://schemas.openxmlformats.org/officeDocument/2006/relationships/image" Target="../media/image2.jpeg" /><Relationship Id="rId2" Type="http://schemas.openxmlformats.org/officeDocument/2006/relationships/image" Target="../media/image1.jpeg" /><Relationship Id="rId1" Type="http://schemas.openxmlformats.org/officeDocument/2006/relationships/slideLayout" Target="../slideLayouts/slideLayout2.xml" /></Relationships>
</file>

<file path=ppt/slides/_rels/slide7.xml.rels><?xml version="1.0" encoding="UTF-8" standalone="yes"?>
<Relationships xmlns="http://schemas.openxmlformats.org/package/2006/relationships"><Relationship Id="rId2" Type="http://schemas.openxmlformats.org/officeDocument/2006/relationships/image" Target="../media/image3.jpeg" /><Relationship Id="rId1" Type="http://schemas.openxmlformats.org/officeDocument/2006/relationships/slideLayout" Target="../slideLayouts/slideLayout2.xml" /></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0.xml.rels><?xml version="1.0" encoding="UTF-8" standalone="yes"?>
<Relationships xmlns="http://schemas.openxmlformats.org/package/2006/relationships"><Relationship Id="rId3" Type="http://schemas.openxmlformats.org/officeDocument/2006/relationships/image" Target="../media/image8.png" /><Relationship Id="rId2" Type="http://schemas.openxmlformats.org/officeDocument/2006/relationships/customXml" Target="../ink/ink5.xml" /><Relationship Id="rId1" Type="http://schemas.openxmlformats.org/officeDocument/2006/relationships/slideLayout" Target="../slideLayouts/slideLayout2.xml" /></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2.xml.rels><?xml version="1.0" encoding="UTF-8" standalone="yes"?>
<Relationships xmlns="http://schemas.openxmlformats.org/package/2006/relationships"><Relationship Id="rId3" Type="http://schemas.openxmlformats.org/officeDocument/2006/relationships/image" Target="../media/image5.jpeg" /><Relationship Id="rId2" Type="http://schemas.openxmlformats.org/officeDocument/2006/relationships/image" Target="../media/image4.jpeg" /><Relationship Id="rId1" Type="http://schemas.openxmlformats.org/officeDocument/2006/relationships/slideLayout" Target="../slideLayouts/slideLayout2.xml" /></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6.xml.rels><?xml version="1.0" encoding="UTF-8" standalone="yes"?>
<Relationships xmlns="http://schemas.openxmlformats.org/package/2006/relationships"><Relationship Id="rId2" Type="http://schemas.openxmlformats.org/officeDocument/2006/relationships/image" Target="../media/image6.jpeg" /><Relationship Id="rId1" Type="http://schemas.openxmlformats.org/officeDocument/2006/relationships/slideLayout" Target="../slideLayouts/slideLayout2.xml" /></Relationships>
</file>

<file path=ppt/slides/_rels/slide17.xml.rels><?xml version="1.0" encoding="UTF-8" standalone="yes"?>
<Relationships xmlns="http://schemas.openxmlformats.org/package/2006/relationships"><Relationship Id="rId2" Type="http://schemas.openxmlformats.org/officeDocument/2006/relationships/image" Target="../media/image7.png" /><Relationship Id="rId1" Type="http://schemas.openxmlformats.org/officeDocument/2006/relationships/slideLayout" Target="../slideLayouts/slideLayout2.xml" /></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9.xml.rels><?xml version="1.0" encoding="UTF-8" standalone="yes"?>
<Relationships xmlns="http://schemas.openxmlformats.org/package/2006/relationships"><Relationship Id="rId2" Type="http://schemas.openxmlformats.org/officeDocument/2006/relationships/image" Target="../media/image9.png" /><Relationship Id="rId1" Type="http://schemas.openxmlformats.org/officeDocument/2006/relationships/slideLayout" Target="../slideLayouts/slideLayout2.xml" /></Relationships>
</file>

<file path=ppt/slides/_rels/slide20.xml.rels><?xml version="1.0" encoding="UTF-8" standalone="yes"?>
<Relationships xmlns="http://schemas.openxmlformats.org/package/2006/relationships"><Relationship Id="rId2" Type="http://schemas.openxmlformats.org/officeDocument/2006/relationships/image" Target="../media/image10.png" /><Relationship Id="rId1" Type="http://schemas.openxmlformats.org/officeDocument/2006/relationships/slideLayout" Target="../slideLayouts/slideLayout2.xml" /></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Pleural effusion </a:t>
            </a:r>
          </a:p>
        </p:txBody>
      </p:sp>
      <p:sp>
        <p:nvSpPr>
          <p:cNvPr id="3" name="Subtitle 2"/>
          <p:cNvSpPr>
            <a:spLocks noGrp="1"/>
          </p:cNvSpPr>
          <p:nvPr>
            <p:ph type="subTitle" idx="1"/>
          </p:nvPr>
        </p:nvSpPr>
        <p:spPr/>
        <p:txBody>
          <a:bodyPr>
            <a:normAutofit/>
          </a:bodyPr>
          <a:lstStyle/>
          <a:p>
            <a:r>
              <a:rPr lang="en-GB" dirty="0">
                <a:solidFill>
                  <a:schemeClr val="tx1"/>
                </a:solidFill>
              </a:rPr>
              <a:t>Prepared by: Mr. </a:t>
            </a:r>
            <a:r>
              <a:rPr lang="en-GB" dirty="0" err="1">
                <a:solidFill>
                  <a:schemeClr val="tx1"/>
                </a:solidFill>
              </a:rPr>
              <a:t>Sajid</a:t>
            </a:r>
            <a:r>
              <a:rPr lang="en-GB" dirty="0">
                <a:solidFill>
                  <a:schemeClr val="tx1"/>
                </a:solidFill>
              </a:rPr>
              <a:t> khan</a:t>
            </a:r>
          </a:p>
          <a:p>
            <a:r>
              <a:rPr lang="en-GB" dirty="0">
                <a:solidFill>
                  <a:schemeClr val="tx1"/>
                </a:solidFill>
              </a:rPr>
              <a:t>Lecturer Surgical</a:t>
            </a:r>
          </a:p>
          <a:p>
            <a:r>
              <a:rPr lang="en-GB" dirty="0">
                <a:solidFill>
                  <a:schemeClr val="tx1"/>
                </a:solidFill>
              </a:rPr>
              <a:t>INU Peshawar </a:t>
            </a:r>
            <a:endParaRPr lang="en-US" dirty="0">
              <a:solidFill>
                <a:schemeClr val="tx1"/>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Pleural effusion </a:t>
            </a:r>
          </a:p>
        </p:txBody>
      </p:sp>
      <p:sp>
        <p:nvSpPr>
          <p:cNvPr id="3" name="Content Placeholder 2"/>
          <p:cNvSpPr>
            <a:spLocks noGrp="1"/>
          </p:cNvSpPr>
          <p:nvPr>
            <p:ph idx="1"/>
          </p:nvPr>
        </p:nvSpPr>
        <p:spPr/>
        <p:txBody>
          <a:bodyPr/>
          <a:lstStyle/>
          <a:p>
            <a:r>
              <a:rPr lang="en-US" dirty="0"/>
              <a:t>It is the accumulation of excess  fluid within the visceral and parietal layers of the pleura</a:t>
            </a:r>
          </a:p>
          <a:p>
            <a:r>
              <a:rPr lang="en-US" dirty="0"/>
              <a:t>Normal amount </a:t>
            </a:r>
            <a:r>
              <a:rPr lang="en-US"/>
              <a:t>8.4 ml </a:t>
            </a:r>
            <a:r>
              <a:rPr lang="en-US" dirty="0"/>
              <a:t>per hemi thorax. </a:t>
            </a:r>
          </a:p>
        </p:txBody>
      </p:sp>
      <mc:AlternateContent xmlns:mc="http://schemas.openxmlformats.org/markup-compatibility/2006" xmlns:p14="http://schemas.microsoft.com/office/powerpoint/2010/main">
        <mc:Choice Requires="p14">
          <p:contentPart p14:bwMode="auto" r:id="rId2">
            <p14:nvContentPartPr>
              <p14:cNvPr id="4" name="Ink 3"/>
              <p14:cNvContentPartPr/>
              <p14:nvPr/>
            </p14:nvContentPartPr>
            <p14:xfrm>
              <a:off x="3526790" y="2964180"/>
              <a:ext cx="580390" cy="62865"/>
            </p14:xfrm>
          </p:contentPart>
        </mc:Choice>
        <mc:Fallback xmlns="">
          <p:pic>
            <p:nvPicPr>
              <p:cNvPr id="4" name="Ink 3"/>
            </p:nvPicPr>
            <p:blipFill>
              <a:blip r:embed="rId3"/>
            </p:blipFill>
            <p:spPr>
              <a:xfrm>
                <a:off x="3526790" y="2964180"/>
                <a:ext cx="580390" cy="62865"/>
              </a:xfrm>
              <a:prstGeom prst="rect"/>
            </p:spPr>
          </p:pic>
        </mc:Fallback>
      </mc:AlternateContent>
      <mc:AlternateContent xmlns:mc="http://schemas.openxmlformats.org/markup-compatibility/2006" xmlns:p14="http://schemas.microsoft.com/office/powerpoint/2010/main">
        <mc:Choice Requires="p14">
          <p:contentPart p14:bwMode="auto" r:id="rId4">
            <p14:nvContentPartPr>
              <p14:cNvPr id="5" name="Ink 4"/>
              <p14:cNvContentPartPr/>
              <p14:nvPr/>
            </p14:nvContentPartPr>
            <p14:xfrm>
              <a:off x="3517900" y="2884170"/>
              <a:ext cx="589280" cy="360"/>
            </p14:xfrm>
          </p:contentPart>
        </mc:Choice>
        <mc:Fallback xmlns="">
          <p:pic>
            <p:nvPicPr>
              <p:cNvPr id="5" name="Ink 4"/>
            </p:nvPicPr>
            <p:blipFill>
              <a:blip r:embed="rId5"/>
            </p:blipFill>
            <p:spPr>
              <a:xfrm>
                <a:off x="3517900" y="2884170"/>
                <a:ext cx="589280" cy="360"/>
              </a:xfrm>
              <a:prstGeom prst="rect"/>
            </p:spPr>
          </p:pic>
        </mc:Fallback>
      </mc:AlternateContent>
      <mc:AlternateContent xmlns:mc="http://schemas.openxmlformats.org/markup-compatibility/2006" xmlns:p14="http://schemas.microsoft.com/office/powerpoint/2010/main">
        <mc:Choice Requires="p14">
          <p:contentPart p14:bwMode="auto" r:id="rId6">
            <p14:nvContentPartPr>
              <p14:cNvPr id="6" name="Ink 5"/>
              <p14:cNvContentPartPr/>
              <p14:nvPr/>
            </p14:nvContentPartPr>
            <p14:xfrm>
              <a:off x="3509010" y="3071495"/>
              <a:ext cx="589280" cy="8890"/>
            </p14:xfrm>
          </p:contentPart>
        </mc:Choice>
        <mc:Fallback xmlns="">
          <p:pic>
            <p:nvPicPr>
              <p:cNvPr id="6" name="Ink 5"/>
            </p:nvPicPr>
            <p:blipFill>
              <a:blip r:embed="rId7"/>
            </p:blipFill>
            <p:spPr>
              <a:xfrm>
                <a:off x="3509010" y="3071495"/>
                <a:ext cx="589280" cy="8890"/>
              </a:xfrm>
              <a:prstGeom prst="rect"/>
            </p:spPr>
          </p:pic>
        </mc:Fallback>
      </mc:AlternateContent>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Location of effusion-amount of fluid</a:t>
            </a:r>
          </a:p>
        </p:txBody>
      </p:sp>
      <p:sp>
        <p:nvSpPr>
          <p:cNvPr id="3" name="Content Placeholder 2"/>
          <p:cNvSpPr>
            <a:spLocks noGrp="1"/>
          </p:cNvSpPr>
          <p:nvPr>
            <p:ph idx="1"/>
          </p:nvPr>
        </p:nvSpPr>
        <p:spPr/>
        <p:txBody>
          <a:bodyPr/>
          <a:lstStyle/>
          <a:p>
            <a:pPr lvl="1"/>
            <a:r>
              <a:rPr lang="en-US" sz="2400" dirty="0">
                <a:cs typeface="Arial" panose="020B0604020202020204" pitchFamily="34" charset="0"/>
              </a:rPr>
              <a:t>75 </a:t>
            </a:r>
            <a:r>
              <a:rPr lang="en-US" sz="2400" dirty="0" err="1">
                <a:cs typeface="Arial" panose="020B0604020202020204" pitchFamily="34" charset="0"/>
              </a:rPr>
              <a:t>mL-subpulmonic</a:t>
            </a:r>
            <a:r>
              <a:rPr lang="en-US" sz="2400" dirty="0">
                <a:cs typeface="Arial" panose="020B0604020202020204" pitchFamily="34" charset="0"/>
              </a:rPr>
              <a:t> space without spillover, can obliterate the posterior costophrenic </a:t>
            </a:r>
            <a:r>
              <a:rPr lang="en-US" sz="2400" dirty="0" err="1">
                <a:cs typeface="Arial" panose="020B0604020202020204" pitchFamily="34" charset="0"/>
              </a:rPr>
              <a:t>sulcus</a:t>
            </a:r>
            <a:r>
              <a:rPr lang="en-US" sz="2400" dirty="0">
                <a:cs typeface="Arial" panose="020B0604020202020204" pitchFamily="34" charset="0"/>
              </a:rPr>
              <a:t>, </a:t>
            </a:r>
          </a:p>
          <a:p>
            <a:pPr lvl="1"/>
            <a:r>
              <a:rPr lang="en-US" sz="2400" dirty="0">
                <a:cs typeface="Arial" panose="020B0604020202020204" pitchFamily="34" charset="0"/>
              </a:rPr>
              <a:t>175 </a:t>
            </a:r>
            <a:r>
              <a:rPr lang="en-US" sz="2400" dirty="0" err="1">
                <a:cs typeface="Arial" panose="020B0604020202020204" pitchFamily="34" charset="0"/>
              </a:rPr>
              <a:t>mL</a:t>
            </a:r>
            <a:r>
              <a:rPr lang="en-US" sz="2400" dirty="0">
                <a:cs typeface="Arial" panose="020B0604020202020204" pitchFamily="34" charset="0"/>
              </a:rPr>
              <a:t> is necessary to obscure the lateral costophrenic </a:t>
            </a:r>
            <a:r>
              <a:rPr lang="en-US" sz="2400" dirty="0" err="1">
                <a:cs typeface="Arial" panose="020B0604020202020204" pitchFamily="34" charset="0"/>
              </a:rPr>
              <a:t>sulcus</a:t>
            </a:r>
            <a:r>
              <a:rPr lang="en-US" sz="2400" dirty="0">
                <a:cs typeface="Arial" panose="020B0604020202020204" pitchFamily="34" charset="0"/>
              </a:rPr>
              <a:t> on an upright chest radiograph </a:t>
            </a:r>
          </a:p>
          <a:p>
            <a:pPr lvl="1"/>
            <a:r>
              <a:rPr lang="en-US" sz="2400" dirty="0">
                <a:cs typeface="Arial" panose="020B0604020202020204" pitchFamily="34" charset="0"/>
              </a:rPr>
              <a:t>500 </a:t>
            </a:r>
            <a:r>
              <a:rPr lang="en-US" sz="2400" dirty="0" err="1">
                <a:cs typeface="Arial" panose="020B0604020202020204" pitchFamily="34" charset="0"/>
              </a:rPr>
              <a:t>mL</a:t>
            </a:r>
            <a:r>
              <a:rPr lang="en-US" sz="2400" dirty="0">
                <a:cs typeface="Arial" panose="020B0604020202020204" pitchFamily="34" charset="0"/>
              </a:rPr>
              <a:t> will obscure the diaphragmatic contour on an upright chest radiograph;</a:t>
            </a:r>
          </a:p>
          <a:p>
            <a:pPr lvl="1"/>
            <a:r>
              <a:rPr lang="en-US" sz="2400" dirty="0">
                <a:cs typeface="Arial" panose="020B0604020202020204" pitchFamily="34" charset="0"/>
              </a:rPr>
              <a:t>1000 ml of effusion reaches the level of the fourth anterior rib, </a:t>
            </a:r>
          </a:p>
          <a:p>
            <a:pPr lvl="1"/>
            <a:r>
              <a:rPr lang="en-US" sz="2400" dirty="0">
                <a:cs typeface="Arial" panose="020B0604020202020204" pitchFamily="34" charset="0"/>
              </a:rPr>
              <a:t>On </a:t>
            </a:r>
            <a:r>
              <a:rPr lang="en-US" sz="2400" dirty="0" err="1">
                <a:cs typeface="Arial" panose="020B0604020202020204" pitchFamily="34" charset="0"/>
              </a:rPr>
              <a:t>decubitus</a:t>
            </a:r>
            <a:r>
              <a:rPr lang="en-US" sz="2400" dirty="0">
                <a:cs typeface="Arial" panose="020B0604020202020204" pitchFamily="34" charset="0"/>
              </a:rPr>
              <a:t> radiographs and CT scans, less than 10 </a:t>
            </a:r>
            <a:r>
              <a:rPr lang="en-US" sz="2400" dirty="0" err="1">
                <a:cs typeface="Arial" panose="020B0604020202020204" pitchFamily="34" charset="0"/>
              </a:rPr>
              <a:t>mL</a:t>
            </a:r>
            <a:r>
              <a:rPr lang="en-US" sz="2400" dirty="0">
                <a:cs typeface="Arial" panose="020B0604020202020204" pitchFamily="34" charset="0"/>
              </a:rPr>
              <a:t>, and possibly as little as 2 </a:t>
            </a:r>
            <a:r>
              <a:rPr lang="en-US" sz="2400" dirty="0" err="1">
                <a:cs typeface="Arial" panose="020B0604020202020204" pitchFamily="34" charset="0"/>
              </a:rPr>
              <a:t>mL</a:t>
            </a:r>
            <a:r>
              <a:rPr lang="en-US" sz="2400" dirty="0">
                <a:cs typeface="Arial" panose="020B0604020202020204" pitchFamily="34" charset="0"/>
              </a:rPr>
              <a:t>, can be identified</a:t>
            </a:r>
          </a:p>
          <a:p>
            <a:endParaRPr 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Causes of pleural effusion </a:t>
            </a:r>
          </a:p>
        </p:txBody>
      </p:sp>
      <p:sp>
        <p:nvSpPr>
          <p:cNvPr id="3" name="Content Placeholder 2"/>
          <p:cNvSpPr>
            <a:spLocks noGrp="1"/>
          </p:cNvSpPr>
          <p:nvPr>
            <p:ph idx="1"/>
          </p:nvPr>
        </p:nvSpPr>
        <p:spPr/>
        <p:txBody>
          <a:bodyPr>
            <a:normAutofit lnSpcReduction="10000"/>
          </a:bodyPr>
          <a:lstStyle/>
          <a:p>
            <a:r>
              <a:rPr lang="en-US" dirty="0"/>
              <a:t>There are a number of many causes of pleural effusion.</a:t>
            </a:r>
          </a:p>
          <a:p>
            <a:r>
              <a:rPr lang="en-US" i="1" dirty="0"/>
              <a:t>Infection</a:t>
            </a:r>
          </a:p>
          <a:p>
            <a:r>
              <a:rPr lang="en-US" i="1" dirty="0"/>
              <a:t>Subphrenic abscess</a:t>
            </a:r>
          </a:p>
          <a:p>
            <a:r>
              <a:rPr lang="en-US" i="1" dirty="0"/>
              <a:t>Malignant neoplasm.</a:t>
            </a:r>
          </a:p>
          <a:p>
            <a:r>
              <a:rPr lang="en-US" i="1" dirty="0"/>
              <a:t>Cardiac failure</a:t>
            </a:r>
          </a:p>
          <a:p>
            <a:r>
              <a:rPr lang="en-US" i="1" dirty="0"/>
              <a:t>Pulmonary infarction</a:t>
            </a:r>
          </a:p>
          <a:p>
            <a:r>
              <a:rPr lang="en-US" i="1" dirty="0"/>
              <a:t>Collagen vascular diseases</a:t>
            </a:r>
            <a:endParaRPr 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i="1" dirty="0"/>
              <a:t>Infection</a:t>
            </a:r>
            <a:endParaRPr lang="en-US" dirty="0"/>
          </a:p>
        </p:txBody>
      </p:sp>
      <p:sp>
        <p:nvSpPr>
          <p:cNvPr id="3" name="Content Placeholder 2"/>
          <p:cNvSpPr>
            <a:spLocks noGrp="1"/>
          </p:cNvSpPr>
          <p:nvPr>
            <p:ph idx="1"/>
          </p:nvPr>
        </p:nvSpPr>
        <p:spPr/>
        <p:txBody>
          <a:bodyPr>
            <a:normAutofit lnSpcReduction="10000"/>
          </a:bodyPr>
          <a:lstStyle/>
          <a:p>
            <a:r>
              <a:rPr lang="en-US" i="1" dirty="0"/>
              <a:t> Pleural effusions due to pneumonia are, on the </a:t>
            </a:r>
            <a:r>
              <a:rPr lang="en-US" dirty="0"/>
              <a:t>whole, small and the pneumonia is usually the dominant feature on the chest film. Large loculated effusions in association with pneumonia often indicate empyema formation.</a:t>
            </a:r>
          </a:p>
          <a:p>
            <a:r>
              <a:rPr lang="en-US" dirty="0"/>
              <a:t>In some cases of tuberculosis the effusion is the only visible abnormality and the effusion may be large</a:t>
            </a:r>
          </a:p>
        </p:txBody>
      </p:sp>
      <mc:AlternateContent xmlns:mc="http://schemas.openxmlformats.org/markup-compatibility/2006" xmlns:p14="http://schemas.microsoft.com/office/powerpoint/2010/main">
        <mc:Choice Requires="p14">
          <p:contentPart p14:bwMode="auto" r:id="rId2">
            <p14:nvContentPartPr>
              <p14:cNvPr id="4" name="Ink 3"/>
              <p14:cNvContentPartPr/>
              <p14:nvPr/>
            </p14:nvContentPartPr>
            <p14:xfrm>
              <a:off x="4946650" y="1884045"/>
              <a:ext cx="1786255" cy="17780"/>
            </p14:xfrm>
          </p:contentPart>
        </mc:Choice>
        <mc:Fallback xmlns="">
          <p:pic>
            <p:nvPicPr>
              <p:cNvPr id="4" name="Ink 3"/>
            </p:nvPicPr>
            <p:blipFill>
              <a:blip r:embed="rId3"/>
            </p:blipFill>
            <p:spPr>
              <a:xfrm>
                <a:off x="4946650" y="1884045"/>
                <a:ext cx="1786255" cy="17780"/>
              </a:xfrm>
              <a:prstGeom prst="rect"/>
            </p:spPr>
          </p:pic>
        </mc:Fallback>
      </mc:AlternateContent>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noAutofit/>
          </a:bodyPr>
          <a:lstStyle/>
          <a:p>
            <a:r>
              <a:rPr lang="en-US" sz="2000" dirty="0"/>
              <a:t>Empyema. (a) CT showing a typical lens-shaped pleural fluid collection with a clearly </a:t>
            </a:r>
            <a:r>
              <a:rPr lang="en-US" sz="2000" dirty="0" err="1"/>
              <a:t>marginated</a:t>
            </a:r>
            <a:r>
              <a:rPr lang="en-US" sz="2000" dirty="0"/>
              <a:t> wall consisting of</a:t>
            </a:r>
            <a:br>
              <a:rPr lang="en-US" sz="2000" dirty="0"/>
            </a:br>
            <a:r>
              <a:rPr lang="en-US" sz="2000" dirty="0"/>
              <a:t>thickened pleura. (b) CT showing multiple loculated air collections within the pus.</a:t>
            </a:r>
          </a:p>
        </p:txBody>
      </p:sp>
      <p:pic>
        <p:nvPicPr>
          <p:cNvPr id="1026" name="Picture 2"/>
          <p:cNvPicPr>
            <a:picLocks noGrp="1" noChangeAspect="1" noChangeArrowheads="1"/>
          </p:cNvPicPr>
          <p:nvPr>
            <p:ph idx="1"/>
          </p:nvPr>
        </p:nvPicPr>
        <p:blipFill>
          <a:blip r:embed="rId2"/>
          <a:stretch>
            <a:fillRect/>
          </a:stretch>
        </p:blipFill>
        <p:spPr bwMode="auto">
          <a:xfrm>
            <a:off x="228600" y="1676400"/>
            <a:ext cx="3997832" cy="4525963"/>
          </a:xfrm>
          <a:prstGeom prst="rect">
            <a:avLst/>
          </a:prstGeom>
          <a:noFill/>
          <a:ln w="9525">
            <a:noFill/>
            <a:miter lim="800000"/>
            <a:headEnd/>
            <a:tailEnd/>
          </a:ln>
          <a:effectLst/>
        </p:spPr>
      </p:pic>
      <p:pic>
        <p:nvPicPr>
          <p:cNvPr id="1027" name="Picture 3"/>
          <p:cNvPicPr>
            <a:picLocks noChangeAspect="1" noChangeArrowheads="1"/>
          </p:cNvPicPr>
          <p:nvPr/>
        </p:nvPicPr>
        <p:blipFill>
          <a:blip r:embed="rId3"/>
          <a:srcRect/>
          <a:stretch>
            <a:fillRect/>
          </a:stretch>
        </p:blipFill>
        <p:spPr bwMode="auto">
          <a:xfrm>
            <a:off x="4114800" y="1676400"/>
            <a:ext cx="4724400" cy="4524375"/>
          </a:xfrm>
          <a:prstGeom prst="rect">
            <a:avLst/>
          </a:prstGeom>
          <a:noFill/>
          <a:ln w="9525">
            <a:noFill/>
            <a:miter lim="800000"/>
            <a:headEnd/>
            <a:tailEnd/>
          </a:ln>
          <a:effectLst/>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2800" dirty="0"/>
              <a:t>Loculated pleural fluid (empyema). (a) Plain chest film showing the fluid loculated in the horizontal (minor) fissure</a:t>
            </a:r>
          </a:p>
        </p:txBody>
      </p:sp>
      <p:pic>
        <p:nvPicPr>
          <p:cNvPr id="2050" name="Picture 2"/>
          <p:cNvPicPr>
            <a:picLocks noGrp="1" noChangeAspect="1" noChangeArrowheads="1"/>
          </p:cNvPicPr>
          <p:nvPr>
            <p:ph idx="1"/>
          </p:nvPr>
        </p:nvPicPr>
        <p:blipFill>
          <a:blip r:embed="rId2"/>
          <a:srcRect/>
          <a:stretch>
            <a:fillRect/>
          </a:stretch>
        </p:blipFill>
        <p:spPr bwMode="auto">
          <a:xfrm>
            <a:off x="914400" y="1524000"/>
            <a:ext cx="4817238" cy="4525963"/>
          </a:xfrm>
          <a:prstGeom prst="rect">
            <a:avLst/>
          </a:prstGeom>
          <a:noFill/>
          <a:ln w="9525">
            <a:noFill/>
            <a:miter lim="800000"/>
            <a:headEnd/>
            <a:tailEnd/>
          </a:ln>
          <a:effectLst/>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lnSpcReduction="10000"/>
          </a:bodyPr>
          <a:lstStyle/>
          <a:p>
            <a:r>
              <a:rPr lang="en-US" i="1" dirty="0"/>
              <a:t>Subphrenic abscess, which is nearly always accompanied </a:t>
            </a:r>
            <a:r>
              <a:rPr lang="en-US" dirty="0"/>
              <a:t>by a pleural effusion.</a:t>
            </a:r>
          </a:p>
          <a:p>
            <a:r>
              <a:rPr lang="en-US" i="1" dirty="0"/>
              <a:t>Malignant neoplasm. Effusions occur with pleural metastases, </a:t>
            </a:r>
            <a:r>
              <a:rPr lang="en-US" dirty="0"/>
              <a:t>but it is unusual to see the pleural deposits themselves on CXRs. Pleural metastases are occasionally seen on CT, MRI or  ultrasound as nodular or mass-like pleural thickening. Malignant effusions are frequently large</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a:bodyPr>
          <a:lstStyle/>
          <a:p>
            <a:r>
              <a:rPr lang="en-US" i="1" dirty="0"/>
              <a:t>Cardiac failure. Small bilateral pleural effusions are seen </a:t>
            </a:r>
            <a:r>
              <a:rPr lang="en-US" dirty="0"/>
              <a:t>frequently in acute left ventricular failure. Larger pleural effusions may be present in longstanding congestive cardiac failure. The effusions are usually bilateral, often larger on the right than the left.</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i="1" dirty="0"/>
              <a:t>Pulmonary infarction. Pulmonary emboli that result in </a:t>
            </a:r>
            <a:r>
              <a:rPr lang="en-US" dirty="0"/>
              <a:t>pulmonary infarction may cause pleural effusion</a:t>
            </a:r>
          </a:p>
        </p:txBody>
      </p:sp>
      <mc:AlternateContent xmlns:mc="http://schemas.openxmlformats.org/markup-compatibility/2006" xmlns:p14="http://schemas.microsoft.com/office/powerpoint/2010/main">
        <mc:Choice Requires="p14">
          <p:contentPart p14:bwMode="auto" r:id="rId2">
            <p14:nvContentPartPr>
              <p14:cNvPr id="4" name="Ink 3"/>
              <p14:cNvContentPartPr/>
              <p14:nvPr/>
            </p14:nvContentPartPr>
            <p14:xfrm>
              <a:off x="-1473200" y="6438265"/>
              <a:ext cx="53975" cy="360"/>
            </p14:xfrm>
          </p:contentPart>
        </mc:Choice>
        <mc:Fallback xmlns="">
          <p:pic>
            <p:nvPicPr>
              <p:cNvPr id="4" name="Ink 3"/>
            </p:nvPicPr>
            <p:blipFill>
              <a:blip r:embed="rId3"/>
            </p:blipFill>
            <p:spPr>
              <a:xfrm>
                <a:off x="-1473200" y="6438265"/>
                <a:ext cx="53975" cy="360"/>
              </a:xfrm>
              <a:prstGeom prst="rect"/>
            </p:spPr>
          </p:pic>
        </mc:Fallback>
      </mc:AlternateContent>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i="1" dirty="0"/>
              <a:t>Plain radiographic findings</a:t>
            </a:r>
            <a:endParaRPr lang="en-US" dirty="0"/>
          </a:p>
        </p:txBody>
      </p:sp>
      <p:sp>
        <p:nvSpPr>
          <p:cNvPr id="3" name="Content Placeholder 2"/>
          <p:cNvSpPr>
            <a:spLocks noGrp="1"/>
          </p:cNvSpPr>
          <p:nvPr>
            <p:ph idx="1"/>
          </p:nvPr>
        </p:nvSpPr>
        <p:spPr/>
        <p:txBody>
          <a:bodyPr/>
          <a:lstStyle/>
          <a:p>
            <a:r>
              <a:rPr lang="en-US" dirty="0"/>
              <a:t>The radiographic appearances of fluid in the pleural cavity are the same regardless of whether the fluid is a transudate, an exudates, pus or blood</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800" dirty="0"/>
              <a:t>a. Large right </a:t>
            </a:r>
            <a:r>
              <a:rPr lang="en-US" sz="2800" dirty="0" err="1"/>
              <a:t>subpulmonary</a:t>
            </a:r>
            <a:r>
              <a:rPr lang="en-US" sz="2800" dirty="0"/>
              <a:t> effusion. B Large left pleural effusion</a:t>
            </a:r>
          </a:p>
        </p:txBody>
      </p:sp>
      <p:pic>
        <p:nvPicPr>
          <p:cNvPr id="3074" name="Picture 2"/>
          <p:cNvPicPr>
            <a:picLocks noGrp="1" noChangeAspect="1" noChangeArrowheads="1"/>
          </p:cNvPicPr>
          <p:nvPr>
            <p:ph idx="1"/>
          </p:nvPr>
        </p:nvPicPr>
        <p:blipFill>
          <a:blip r:embed="rId2"/>
          <a:srcRect/>
          <a:stretch>
            <a:fillRect/>
          </a:stretch>
        </p:blipFill>
        <p:spPr bwMode="auto">
          <a:xfrm>
            <a:off x="0" y="2057400"/>
            <a:ext cx="4590010" cy="4525963"/>
          </a:xfrm>
          <a:prstGeom prst="rect">
            <a:avLst/>
          </a:prstGeom>
          <a:noFill/>
          <a:ln w="9525">
            <a:noFill/>
            <a:miter lim="800000"/>
            <a:headEnd/>
            <a:tailEnd/>
          </a:ln>
          <a:effectLst/>
        </p:spPr>
      </p:pic>
      <p:pic>
        <p:nvPicPr>
          <p:cNvPr id="3075" name="Picture 3"/>
          <p:cNvPicPr>
            <a:picLocks noChangeAspect="1" noChangeArrowheads="1"/>
          </p:cNvPicPr>
          <p:nvPr/>
        </p:nvPicPr>
        <p:blipFill>
          <a:blip r:embed="rId3"/>
          <a:srcRect/>
          <a:stretch>
            <a:fillRect/>
          </a:stretch>
        </p:blipFill>
        <p:spPr bwMode="auto">
          <a:xfrm>
            <a:off x="4800600" y="2057400"/>
            <a:ext cx="3886200" cy="4572000"/>
          </a:xfrm>
          <a:prstGeom prst="rect">
            <a:avLst/>
          </a:prstGeom>
          <a:noFill/>
          <a:ln w="9525">
            <a:noFill/>
            <a:miter lim="800000"/>
            <a:headEnd/>
            <a:tailEnd/>
          </a:ln>
          <a:effectLst/>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a:bodyPr>
          <a:lstStyle/>
          <a:p>
            <a:r>
              <a:rPr lang="en-US" dirty="0"/>
              <a:t>Free fluid collects in the most dependent portion of the pleural cavity and always fills in the costophrenic angles. Usually the fluid surrounds the lung and is higher laterally than medially. Very large effusions run over the top of the lung. </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a:t>Sometimes, even with a large effusion, little or no fluid is seen running up the chest wall. The fluid is then known as a ‘sub pulmonary effusion</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i="1" dirty="0"/>
              <a:t>Ultrasound</a:t>
            </a:r>
            <a:br>
              <a:rPr lang="en-US" i="1" dirty="0"/>
            </a:br>
            <a:endParaRPr lang="en-US" dirty="0"/>
          </a:p>
        </p:txBody>
      </p:sp>
      <p:sp>
        <p:nvSpPr>
          <p:cNvPr id="3" name="Content Placeholder 2"/>
          <p:cNvSpPr>
            <a:spLocks noGrp="1"/>
          </p:cNvSpPr>
          <p:nvPr>
            <p:ph idx="1"/>
          </p:nvPr>
        </p:nvSpPr>
        <p:spPr/>
        <p:txBody>
          <a:bodyPr/>
          <a:lstStyle/>
          <a:p>
            <a:r>
              <a:rPr lang="en-US" dirty="0"/>
              <a:t>Ultrasound is a simple method of determining whether pleural fluid is present. Pleural fluid can be recognized as a hypo echoic area between the lung and diaphragm or between the chest wall and the lung</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2400" dirty="0"/>
              <a:t>Ultrasound, </a:t>
            </a:r>
            <a:r>
              <a:rPr lang="en-US" sz="2400" dirty="0" err="1"/>
              <a:t>sagittal</a:t>
            </a:r>
            <a:r>
              <a:rPr lang="en-US" sz="2400" dirty="0"/>
              <a:t> image. The pleural effusion is seen</a:t>
            </a:r>
            <a:br>
              <a:rPr lang="en-US" sz="2400" dirty="0"/>
            </a:br>
            <a:r>
              <a:rPr lang="en-US" sz="2400" dirty="0"/>
              <a:t>as a transonic area between the diaphragm (downward pointing</a:t>
            </a:r>
            <a:br>
              <a:rPr lang="en-US" sz="2400" dirty="0"/>
            </a:br>
            <a:r>
              <a:rPr lang="en-US" sz="2400" dirty="0"/>
              <a:t>arrow) and adjacent lung (upward pointing arrow</a:t>
            </a:r>
          </a:p>
        </p:txBody>
      </p:sp>
      <p:pic>
        <p:nvPicPr>
          <p:cNvPr id="4098" name="Picture 2"/>
          <p:cNvPicPr>
            <a:picLocks noGrp="1" noChangeAspect="1" noChangeArrowheads="1"/>
          </p:cNvPicPr>
          <p:nvPr>
            <p:ph idx="1"/>
          </p:nvPr>
        </p:nvPicPr>
        <p:blipFill>
          <a:blip r:embed="rId2"/>
          <a:srcRect/>
          <a:stretch>
            <a:fillRect/>
          </a:stretch>
        </p:blipFill>
        <p:spPr bwMode="auto">
          <a:xfrm>
            <a:off x="2100186" y="1600200"/>
            <a:ext cx="4943627" cy="4525963"/>
          </a:xfrm>
          <a:prstGeom prst="rect">
            <a:avLst/>
          </a:prstGeom>
          <a:noFill/>
          <a:ln w="9525">
            <a:noFill/>
            <a:miter lim="800000"/>
            <a:headEnd/>
            <a:tailEnd/>
          </a:ln>
          <a:effectLst/>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2800" dirty="0"/>
              <a:t>Chest</a:t>
            </a:r>
            <a:br>
              <a:rPr lang="en-US" sz="2800" dirty="0"/>
            </a:br>
            <a:r>
              <a:rPr lang="en-US" sz="2800" dirty="0"/>
              <a:t>ultrasound in a different patient, demonstrating multiple </a:t>
            </a:r>
            <a:r>
              <a:rPr lang="en-US" sz="2800" dirty="0" err="1"/>
              <a:t>septations</a:t>
            </a:r>
            <a:r>
              <a:rPr lang="en-US" sz="2800" dirty="0"/>
              <a:t> (arrows) within the pleural fluid. (</a:t>
            </a:r>
          </a:p>
        </p:txBody>
      </p:sp>
      <p:pic>
        <p:nvPicPr>
          <p:cNvPr id="5122" name="Picture 2"/>
          <p:cNvPicPr>
            <a:picLocks noGrp="1" noChangeAspect="1" noChangeArrowheads="1"/>
          </p:cNvPicPr>
          <p:nvPr>
            <p:ph idx="1"/>
          </p:nvPr>
        </p:nvPicPr>
        <p:blipFill>
          <a:blip r:embed="rId2"/>
          <a:srcRect/>
          <a:stretch>
            <a:fillRect/>
          </a:stretch>
        </p:blipFill>
        <p:spPr bwMode="auto">
          <a:xfrm>
            <a:off x="2145787" y="1600200"/>
            <a:ext cx="4852426" cy="4525963"/>
          </a:xfrm>
          <a:prstGeom prst="rect">
            <a:avLst/>
          </a:prstGeom>
          <a:noFill/>
          <a:ln w="9525">
            <a:noFill/>
            <a:miter lim="800000"/>
            <a:headEnd/>
            <a:tailEnd/>
          </a:ln>
          <a:effectLst/>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i="1" dirty="0"/>
              <a:t>Computed tomography</a:t>
            </a:r>
            <a:endParaRPr lang="en-US" dirty="0"/>
          </a:p>
        </p:txBody>
      </p:sp>
      <p:sp>
        <p:nvSpPr>
          <p:cNvPr id="3" name="Content Placeholder 2"/>
          <p:cNvSpPr>
            <a:spLocks noGrp="1"/>
          </p:cNvSpPr>
          <p:nvPr>
            <p:ph idx="1"/>
          </p:nvPr>
        </p:nvSpPr>
        <p:spPr/>
        <p:txBody>
          <a:bodyPr>
            <a:normAutofit/>
          </a:bodyPr>
          <a:lstStyle/>
          <a:p>
            <a:r>
              <a:rPr lang="en-US" dirty="0"/>
              <a:t>Pleural effusions are usually seen as an area of homogeneous fluid density between the chest wall and lung .CT is particularly useful for showing loculated</a:t>
            </a:r>
          </a:p>
          <a:p>
            <a:r>
              <a:rPr lang="en-US" dirty="0"/>
              <a:t>pleural effusions If the fluid is due to recent hemorrhage it will show the high density of blood, otherwise it is not possible to determine the nature of the fluid</a:t>
            </a:r>
            <a:endParaRPr lang="en-US" b="1"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2800" dirty="0"/>
              <a:t>Pleural effusion. (a) CT. The section is taken through</a:t>
            </a:r>
            <a:br>
              <a:rPr lang="en-US" sz="2800" dirty="0"/>
            </a:br>
            <a:r>
              <a:rPr lang="en-US" sz="2800" dirty="0"/>
              <a:t>the lowermost portion of the pleural cavity</a:t>
            </a:r>
          </a:p>
        </p:txBody>
      </p:sp>
      <p:pic>
        <p:nvPicPr>
          <p:cNvPr id="6146" name="Picture 2"/>
          <p:cNvPicPr>
            <a:picLocks noGrp="1" noChangeAspect="1" noChangeArrowheads="1"/>
          </p:cNvPicPr>
          <p:nvPr>
            <p:ph idx="1"/>
          </p:nvPr>
        </p:nvPicPr>
        <p:blipFill>
          <a:blip r:embed="rId2"/>
          <a:srcRect/>
          <a:stretch>
            <a:fillRect/>
          </a:stretch>
        </p:blipFill>
        <p:spPr bwMode="auto">
          <a:xfrm>
            <a:off x="1500187" y="1610519"/>
            <a:ext cx="6143625" cy="4505325"/>
          </a:xfrm>
          <a:prstGeom prst="rect">
            <a:avLst/>
          </a:prstGeom>
          <a:noFill/>
          <a:ln w="9525">
            <a:noFill/>
            <a:miter lim="800000"/>
            <a:headEnd/>
            <a:tailEnd/>
          </a:ln>
          <a:effectLst/>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2800" dirty="0"/>
              <a:t>CT of pleural fluid. The bilateral pleural effusions are</a:t>
            </a:r>
            <a:br>
              <a:rPr lang="en-US" sz="2800" dirty="0"/>
            </a:br>
            <a:r>
              <a:rPr lang="en-US" sz="2800" dirty="0"/>
              <a:t>of homogeneous density</a:t>
            </a:r>
          </a:p>
        </p:txBody>
      </p:sp>
      <p:pic>
        <p:nvPicPr>
          <p:cNvPr id="7170" name="Picture 2"/>
          <p:cNvPicPr>
            <a:picLocks noGrp="1" noChangeAspect="1" noChangeArrowheads="1"/>
          </p:cNvPicPr>
          <p:nvPr>
            <p:ph idx="1"/>
          </p:nvPr>
        </p:nvPicPr>
        <p:blipFill>
          <a:blip r:embed="rId2"/>
          <a:srcRect/>
          <a:stretch>
            <a:fillRect/>
          </a:stretch>
        </p:blipFill>
        <p:spPr bwMode="auto">
          <a:xfrm>
            <a:off x="1842987" y="1600200"/>
            <a:ext cx="5458026" cy="4525963"/>
          </a:xfrm>
          <a:prstGeom prst="rect">
            <a:avLst/>
          </a:prstGeom>
          <a:noFill/>
          <a:ln w="9525">
            <a:noFill/>
            <a:miter lim="800000"/>
            <a:headEnd/>
            <a:tailEnd/>
          </a:ln>
          <a:effectLst/>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04800"/>
            <a:ext cx="8229600" cy="5821363"/>
          </a:xfrm>
        </p:spPr>
        <p:txBody>
          <a:bodyPr>
            <a:normAutofit lnSpcReduction="10000"/>
          </a:bodyPr>
          <a:lstStyle/>
          <a:p>
            <a:pPr algn="ctr">
              <a:buNone/>
            </a:pPr>
            <a:r>
              <a:rPr lang="en-US" sz="19900"/>
              <a:t>Thank </a:t>
            </a:r>
            <a:r>
              <a:rPr lang="en-US" sz="19900" dirty="0"/>
              <a:t>you </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3897</Words>
  <Application>Microsoft Office PowerPoint</Application>
  <PresentationFormat>On-screen Show (4:3)</PresentationFormat>
  <Paragraphs>76</Paragraphs>
  <Slides>21</Slides>
  <Notes>0</Notes>
  <HiddenSlides>0</HiddenSlides>
  <MMClips>0</MMClips>
  <ScaleCrop>false</ScaleCrop>
  <HeadingPairs>
    <vt:vector size="4" baseType="variant">
      <vt:variant>
        <vt:lpstr>Theme</vt:lpstr>
      </vt:variant>
      <vt:variant>
        <vt:i4>1</vt:i4>
      </vt:variant>
      <vt:variant>
        <vt:lpstr>Slide Titles</vt:lpstr>
      </vt:variant>
      <vt:variant>
        <vt:i4>21</vt:i4>
      </vt:variant>
    </vt:vector>
  </HeadingPairs>
  <TitlesOfParts>
    <vt:vector size="22" baseType="lpstr">
      <vt:lpstr>Office Theme</vt:lpstr>
      <vt:lpstr>Pleural effusion </vt:lpstr>
      <vt:lpstr>Pleural effusion </vt:lpstr>
      <vt:lpstr>Location of effusion-amount of fluid</vt:lpstr>
      <vt:lpstr>Causes of pleural effusion </vt:lpstr>
      <vt:lpstr>Infection</vt:lpstr>
      <vt:lpstr>Empyema. (a) CT showing a typical lens-shaped pleural fluid collection with a clearly marginated wall consisting of thickened pleura. (b) CT showing multiple loculated air collections within the pus.</vt:lpstr>
      <vt:lpstr>Loculated pleural fluid (empyema). (a) Plain chest film showing the fluid loculated in the horizontal (minor) fissure</vt:lpstr>
      <vt:lpstr>PowerPoint Presentation</vt:lpstr>
      <vt:lpstr>PowerPoint Presentation</vt:lpstr>
      <vt:lpstr>PowerPoint Presentation</vt:lpstr>
      <vt:lpstr>Plain radiographic findings</vt:lpstr>
      <vt:lpstr>a. Large right subpulmonary effusion. B Large left pleural effusion</vt:lpstr>
      <vt:lpstr>PowerPoint Presentation</vt:lpstr>
      <vt:lpstr>PowerPoint Presentation</vt:lpstr>
      <vt:lpstr>Ultrasound </vt:lpstr>
      <vt:lpstr>Ultrasound, sagittal image. The pleural effusion is seen as a transonic area between the diaphragm (downward pointing arrow) and adjacent lung (upward pointing arrow</vt:lpstr>
      <vt:lpstr>Chest ultrasound in a different patient, demonstrating multiple septations (arrows) within the pleural fluid. (</vt:lpstr>
      <vt:lpstr>Computed tomography</vt:lpstr>
      <vt:lpstr>Pleural effusion. (a) CT. The section is taken through the lowermost portion of the pleural cavity</vt:lpstr>
      <vt:lpstr>CT of pleural fluid. The bilateral pleural effusions are of homogeneous density</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Home</dc:creator>
  <cp:lastModifiedBy>sajidkhanbettani7@gmail.com</cp:lastModifiedBy>
  <cp:revision>34</cp:revision>
  <dcterms:created xsi:type="dcterms:W3CDTF">2006-08-16T00:00:00Z</dcterms:created>
  <dcterms:modified xsi:type="dcterms:W3CDTF">2024-11-22T15:38:25Z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1033-10.2.0.7636</vt:lpwstr>
  </property>
</Properties>
</file>