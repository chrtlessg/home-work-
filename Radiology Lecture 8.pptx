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0"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18-May-16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18-May-16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18-May-16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18-May-16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18-May-16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18-May-16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18-May-16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18-May-16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18-May-16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18-May-16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18-May-16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18-May-16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Pulmonary Tuberculosis</a:t>
            </a:r>
            <a:endParaRPr lang="en-US" dirty="0"/>
          </a:p>
        </p:txBody>
      </p:sp>
      <p:sp>
        <p:nvSpPr>
          <p:cNvPr id="3" name="Content Placeholder 2"/>
          <p:cNvSpPr>
            <a:spLocks noGrp="1"/>
          </p:cNvSpPr>
          <p:nvPr>
            <p:ph idx="1"/>
          </p:nvPr>
        </p:nvSpPr>
        <p:spPr/>
        <p:txBody>
          <a:bodyPr>
            <a:normAutofit/>
          </a:bodyPr>
          <a:lstStyle/>
          <a:p>
            <a:r>
              <a:rPr lang="en-US" dirty="0" smtClean="0"/>
              <a:t>Pulmonary tuberculosis is usually divided into primary and secondary forms. </a:t>
            </a:r>
          </a:p>
          <a:p>
            <a:r>
              <a:rPr lang="en-US" dirty="0" smtClean="0"/>
              <a:t>Primary tuberculosis is the result of the first infection with </a:t>
            </a:r>
            <a:r>
              <a:rPr lang="en-US" i="1" dirty="0" smtClean="0"/>
              <a:t>Mycobacterium tuberculosis and usually occurs in </a:t>
            </a:r>
            <a:r>
              <a:rPr lang="en-US" dirty="0" smtClean="0"/>
              <a:t>childhood. </a:t>
            </a:r>
          </a:p>
          <a:p>
            <a:r>
              <a:rPr lang="en-US" dirty="0" smtClean="0"/>
              <a:t>Secondary  tuberculosis, the usual form in</a:t>
            </a:r>
          </a:p>
          <a:p>
            <a:pPr>
              <a:buNone/>
            </a:pPr>
            <a:r>
              <a:rPr lang="en-US" dirty="0" smtClean="0"/>
              <a:t>    adults, is believed to be re-infection.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Primary tuberculosis</a:t>
            </a:r>
            <a:endParaRPr lang="en-US" dirty="0"/>
          </a:p>
        </p:txBody>
      </p:sp>
      <p:sp>
        <p:nvSpPr>
          <p:cNvPr id="3" name="Content Placeholder 2"/>
          <p:cNvSpPr>
            <a:spLocks noGrp="1"/>
          </p:cNvSpPr>
          <p:nvPr>
            <p:ph idx="1"/>
          </p:nvPr>
        </p:nvSpPr>
        <p:spPr/>
        <p:txBody>
          <a:bodyPr/>
          <a:lstStyle/>
          <a:p>
            <a:r>
              <a:rPr lang="en-US" dirty="0" smtClean="0"/>
              <a:t>In primary tuberculosis, an area of consolidation, develops in the periphery of the lung – usually in the mid or upper zones. Usually, the pulmonary opacity is small, but it may occasionally involve most of the lobe.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Sometimes the pulmonary consolidation is so</a:t>
            </a:r>
          </a:p>
          <a:p>
            <a:pPr>
              <a:buNone/>
            </a:pPr>
            <a:r>
              <a:rPr lang="en-US" dirty="0" smtClean="0"/>
              <a:t>   Small that it is invisible. The consolidation is often accompanied by visibly enlarged hilar or mediastinum lymph nodes. This combination of pulmonary consolidation and lymphadenopathy is known as the </a:t>
            </a:r>
            <a:r>
              <a:rPr lang="en-US" i="1" dirty="0" smtClean="0"/>
              <a:t>primary complex.</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complex Tb</a:t>
            </a:r>
            <a:endParaRPr lang="en-US" dirty="0"/>
          </a:p>
        </p:txBody>
      </p:sp>
      <p:pic>
        <p:nvPicPr>
          <p:cNvPr id="1026" name="Picture 2" descr="C:\Users\midrar\Desktop\primary complex.gif"/>
          <p:cNvPicPr>
            <a:picLocks noGrp="1" noChangeAspect="1" noChangeArrowheads="1"/>
          </p:cNvPicPr>
          <p:nvPr>
            <p:ph idx="1"/>
          </p:nvPr>
        </p:nvPicPr>
        <p:blipFill>
          <a:blip r:embed="rId2"/>
          <a:srcRect/>
          <a:stretch>
            <a:fillRect/>
          </a:stretch>
        </p:blipFill>
        <p:spPr bwMode="auto">
          <a:xfrm>
            <a:off x="1143000" y="1600200"/>
            <a:ext cx="6705600" cy="50292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800" dirty="0" smtClean="0"/>
              <a:t>Tuberculosis. (a) The primary complex. This 7-year-old child shows ill-defined consolidation in the right lung together </a:t>
            </a:r>
            <a:r>
              <a:rPr lang="en-US" sz="1800" dirty="0" err="1" smtClean="0"/>
              <a:t>withenlargement</a:t>
            </a:r>
            <a:r>
              <a:rPr lang="en-US" sz="1800" dirty="0" smtClean="0"/>
              <a:t> of the draining lymph nodes (arrow). (b) </a:t>
            </a:r>
            <a:r>
              <a:rPr lang="en-US" sz="1800" dirty="0" err="1" smtClean="0"/>
              <a:t>Miliarytuberculosis</a:t>
            </a:r>
            <a:r>
              <a:rPr lang="en-US" sz="1800" dirty="0" smtClean="0"/>
              <a:t>. The innumerable small nodular opacities uniformly distributed throughout the lungs in this young child are typical of miliary tuberculosis</a:t>
            </a:r>
            <a:endParaRPr lang="en-US" sz="1800" dirty="0"/>
          </a:p>
        </p:txBody>
      </p:sp>
      <p:pic>
        <p:nvPicPr>
          <p:cNvPr id="1026" name="Picture 2"/>
          <p:cNvPicPr>
            <a:picLocks noGrp="1" noChangeAspect="1" noChangeArrowheads="1"/>
          </p:cNvPicPr>
          <p:nvPr>
            <p:ph idx="1"/>
          </p:nvPr>
        </p:nvPicPr>
        <p:blipFill>
          <a:blip r:embed="rId2"/>
          <a:srcRect/>
          <a:stretch>
            <a:fillRect/>
          </a:stretch>
        </p:blipFill>
        <p:spPr bwMode="auto">
          <a:xfrm>
            <a:off x="228600" y="1828800"/>
            <a:ext cx="4471020" cy="4525963"/>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671310" y="1905000"/>
            <a:ext cx="4472690" cy="44196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46237"/>
            <a:ext cx="8229600" cy="4525963"/>
          </a:xfrm>
        </p:spPr>
        <p:txBody>
          <a:bodyPr>
            <a:normAutofit lnSpcReduction="10000"/>
          </a:bodyPr>
          <a:lstStyle/>
          <a:p>
            <a:r>
              <a:rPr lang="en-US" dirty="0" smtClean="0"/>
              <a:t>The clinical features of the primary complex vary. </a:t>
            </a:r>
          </a:p>
          <a:p>
            <a:r>
              <a:rPr lang="en-US" dirty="0" smtClean="0"/>
              <a:t>The majority of patients have few, if any, symptoms; the remainder have fever, cough and malaise/ night sweating </a:t>
            </a:r>
          </a:p>
          <a:p>
            <a:r>
              <a:rPr lang="en-US" dirty="0" smtClean="0"/>
              <a:t>In most cases, whether treated or not, the primary complex heals and often calcifies. A calcified primary complex often remains visible throughout life.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US" dirty="0" smtClean="0"/>
              <a:t>Spread of primary tuberculosis infection may occur via two route </a:t>
            </a:r>
          </a:p>
          <a:p>
            <a:pPr marL="514350" indent="-514350">
              <a:buAutoNum type="arabicPeriod"/>
            </a:pPr>
            <a:r>
              <a:rPr lang="en-US" b="1" dirty="0" smtClean="0"/>
              <a:t>The bronchial tree, leading to tuberculosis bronchopneumonia. </a:t>
            </a:r>
            <a:r>
              <a:rPr lang="en-US" dirty="0" smtClean="0"/>
              <a:t>This appears radiologically as patchy or lobar consolidation; it often involves more than one lobe, may be bilateral and frequently cavitates.</a:t>
            </a:r>
          </a:p>
          <a:p>
            <a:pPr>
              <a:buNone/>
            </a:pPr>
            <a:r>
              <a:rPr lang="en-US" dirty="0" smtClean="0"/>
              <a:t>2. The blood stream, resulting in </a:t>
            </a:r>
            <a:r>
              <a:rPr lang="en-US" i="1" dirty="0" smtClean="0"/>
              <a:t>miliary tuberculosis </a:t>
            </a:r>
            <a:r>
              <a:rPr lang="en-US" dirty="0" smtClean="0"/>
              <a:t> in which there are innumerable small nodules in the lungs, all much the same size and fairly evenly distributed.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pleural effusion may be present. It is important to note that the chest film may be normal in the early stages of miliary tuberculosis.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Secondary  Tuberculosis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Secondary  tuberculosis usually presents with cough, haemoptysis, weight loss, night sweats or malaise. Occasionally, the disease is discovered on a routine chest film. Post primary tuberculosis is usually confined to the apical and posterior segments of the upper lobes and the apical segments of the lower lobes, though may present as a lower or middle lobe bronchopneumonia. The initial lesions are multiple small areas of consolidation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600" dirty="0" err="1" smtClean="0"/>
              <a:t>Postprimary</a:t>
            </a:r>
            <a:r>
              <a:rPr lang="en-US" sz="1600" dirty="0" smtClean="0"/>
              <a:t> tuberculosis. (a) There are ill-defined consolidations scattered in both upper lobes; their size and distribution should suggest the diagnosis of </a:t>
            </a:r>
            <a:r>
              <a:rPr lang="en-US" sz="1600" dirty="0" err="1" smtClean="0"/>
              <a:t>postprimary</a:t>
            </a:r>
            <a:r>
              <a:rPr lang="en-US" sz="1600" dirty="0" smtClean="0"/>
              <a:t> tuberculosis. (b) The right upper lobe is consolidated and contains a large central cavity. Patchy consolidation from </a:t>
            </a:r>
            <a:r>
              <a:rPr lang="en-US" sz="1600" dirty="0" err="1" smtClean="0"/>
              <a:t>tuberculous</a:t>
            </a:r>
            <a:r>
              <a:rPr lang="en-US" sz="1600" dirty="0" smtClean="0"/>
              <a:t> bronchopneumonia is seen in the right mid and lower zones and in the left upper zone</a:t>
            </a:r>
            <a:endParaRPr lang="en-US" sz="1600" dirty="0"/>
          </a:p>
        </p:txBody>
      </p:sp>
      <p:pic>
        <p:nvPicPr>
          <p:cNvPr id="1026" name="Picture 2"/>
          <p:cNvPicPr>
            <a:picLocks noGrp="1" noChangeAspect="1" noChangeArrowheads="1"/>
          </p:cNvPicPr>
          <p:nvPr>
            <p:ph idx="1"/>
          </p:nvPr>
        </p:nvPicPr>
        <p:blipFill>
          <a:blip r:embed="rId2"/>
          <a:srcRect/>
          <a:stretch>
            <a:fillRect/>
          </a:stretch>
        </p:blipFill>
        <p:spPr bwMode="auto">
          <a:xfrm>
            <a:off x="1" y="1752600"/>
            <a:ext cx="4572000" cy="4572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572000" y="1676400"/>
            <a:ext cx="4572000" cy="46482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Pleural effusions are frequent and may be the only radiographic abnormality.</a:t>
            </a:r>
          </a:p>
          <a:p>
            <a:r>
              <a:rPr lang="en-US" dirty="0" smtClean="0"/>
              <a:t>If the infection progresses, any areas of consolidation may enlarge and frequently undergo cavitations. Cavities are seen as rounded air-spaces (translucencies) completely surrounded by pulmonary Opacification.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infection may undergo partial or complete healing at any stage. Healing occurs by fibrosis, often with calcification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Old calcified </a:t>
            </a:r>
            <a:r>
              <a:rPr lang="en-US" sz="3200" dirty="0" err="1" smtClean="0"/>
              <a:t>tuberculous</a:t>
            </a:r>
            <a:r>
              <a:rPr lang="en-US" sz="3200" dirty="0" smtClean="0"/>
              <a:t> disease. There are numerous</a:t>
            </a:r>
            <a:br>
              <a:rPr lang="en-US" sz="3200" dirty="0" smtClean="0"/>
            </a:br>
            <a:r>
              <a:rPr lang="en-US" sz="3200" dirty="0" smtClean="0"/>
              <a:t>foci of calcification in both lungs</a:t>
            </a:r>
            <a:endParaRPr lang="en-US" sz="3200" dirty="0"/>
          </a:p>
        </p:txBody>
      </p:sp>
      <p:pic>
        <p:nvPicPr>
          <p:cNvPr id="2050" name="Picture 2"/>
          <p:cNvPicPr>
            <a:picLocks noGrp="1" noChangeAspect="1" noChangeArrowheads="1"/>
          </p:cNvPicPr>
          <p:nvPr>
            <p:ph idx="1"/>
          </p:nvPr>
        </p:nvPicPr>
        <p:blipFill>
          <a:blip r:embed="rId2"/>
          <a:srcRect/>
          <a:stretch>
            <a:fillRect/>
          </a:stretch>
        </p:blipFill>
        <p:spPr bwMode="auto">
          <a:xfrm>
            <a:off x="685800" y="1981200"/>
            <a:ext cx="6172200" cy="4525963"/>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20000"/>
          </a:bodyPr>
          <a:lstStyle/>
          <a:p>
            <a:pPr algn="ctr">
              <a:buNone/>
            </a:pPr>
            <a:endParaRPr lang="en-US" dirty="0" smtClean="0"/>
          </a:p>
          <a:p>
            <a:pPr algn="ctr">
              <a:buNone/>
            </a:pPr>
            <a:endParaRPr lang="en-US" dirty="0" smtClean="0"/>
          </a:p>
          <a:p>
            <a:pPr algn="ctr">
              <a:buNone/>
            </a:pPr>
            <a:r>
              <a:rPr lang="en-US" sz="16600" dirty="0" smtClean="0"/>
              <a:t>Thank you </a:t>
            </a:r>
            <a:endParaRPr lang="en-US" sz="16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562</Words>
  <Application>Microsoft Office PowerPoint</Application>
  <PresentationFormat>On-screen Show (4:3)</PresentationFormat>
  <Paragraphs>28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Pulmonary Tuberculosis</vt:lpstr>
      <vt:lpstr>Primary tuberculosis</vt:lpstr>
      <vt:lpstr>Slide 3</vt:lpstr>
      <vt:lpstr>Primary complex Tb</vt:lpstr>
      <vt:lpstr>Tuberculosis. (a) The primary complex. This 7-year-old child shows ill-defined consolidation in the right lung together withenlargement of the draining lymph nodes (arrow). (b) Miliarytuberculosis. The innumerable small nodular opacities uniformly distributed throughout the lungs in this young child are typical of miliary tuberculosis</vt:lpstr>
      <vt:lpstr>Slide 6</vt:lpstr>
      <vt:lpstr>Slide 7</vt:lpstr>
      <vt:lpstr>Slide 8</vt:lpstr>
      <vt:lpstr>Secondary  Tuberculosis</vt:lpstr>
      <vt:lpstr>Postprimary tuberculosis. (a) There are ill-defined consolidations scattered in both upper lobes; their size and distribution should suggest the diagnosis of postprimary tuberculosis. (b) The right upper lobe is consolidated and contains a large central cavity. Patchy consolidation from tuberculous bronchopneumonia is seen in the right mid and lower zones and in the left upper zone</vt:lpstr>
      <vt:lpstr>Slide 11</vt:lpstr>
      <vt:lpstr>Slide 12</vt:lpstr>
      <vt:lpstr>Old calcified tuberculous disease. There are numerous foci of calcification in both lungs</vt:lpstr>
      <vt:lpstr>Slide 14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Home</dc:creator>
  <cp:lastModifiedBy>midrar</cp:lastModifiedBy>
  <cp:revision>41</cp:revision>
  <dcterms:created xsi:type="dcterms:W3CDTF">2006-08-16T00:00:00Z</dcterms:created>
  <dcterms:modified xsi:type="dcterms:W3CDTF">2016-05-18T01:15:09Z</dcterms:modified>
</cp:coreProperties>
</file>