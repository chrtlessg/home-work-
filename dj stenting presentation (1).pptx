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0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5" Type="http://schemas.openxmlformats.org/officeDocument/2006/relationships/slide" Target="slides/slide4.xml" /><Relationship Id="rId10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58-737F-41F1-ABFF-B96786697EF1}" type="datetimeFigureOut">
              <a:rPr lang="en-GB" smtClean="0"/>
              <a:t>13/12/2024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42B42-D43E-4364-8DAA-304BF97AD2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980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58-737F-41F1-ABFF-B96786697EF1}" type="datetimeFigureOut">
              <a:rPr lang="en-GB" smtClean="0"/>
              <a:t>13/12/2024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42B42-D43E-4364-8DAA-304BF97AD2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14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58-737F-41F1-ABFF-B96786697EF1}" type="datetimeFigureOut">
              <a:rPr lang="en-GB" smtClean="0"/>
              <a:t>13/12/2024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42B42-D43E-4364-8DAA-304BF97AD2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948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58-737F-41F1-ABFF-B96786697EF1}" type="datetimeFigureOut">
              <a:rPr lang="en-GB" smtClean="0"/>
              <a:t>13/12/2024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42B42-D43E-4364-8DAA-304BF97AD2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32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58-737F-41F1-ABFF-B96786697EF1}" type="datetimeFigureOut">
              <a:rPr lang="en-GB" smtClean="0"/>
              <a:t>13/12/2024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42B42-D43E-4364-8DAA-304BF97AD2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539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58-737F-41F1-ABFF-B96786697EF1}" type="datetimeFigureOut">
              <a:rPr lang="en-GB" smtClean="0"/>
              <a:t>13/12/2024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42B42-D43E-4364-8DAA-304BF97AD2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327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58-737F-41F1-ABFF-B96786697EF1}" type="datetimeFigureOut">
              <a:rPr lang="en-GB" smtClean="0"/>
              <a:t>13/12/2024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42B42-D43E-4364-8DAA-304BF97AD2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157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58-737F-41F1-ABFF-B96786697EF1}" type="datetimeFigureOut">
              <a:rPr lang="en-GB" smtClean="0"/>
              <a:t>13/12/2024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42B42-D43E-4364-8DAA-304BF97AD2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398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58-737F-41F1-ABFF-B96786697EF1}" type="datetimeFigureOut">
              <a:rPr lang="en-GB" smtClean="0"/>
              <a:t>13/12/2024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42B42-D43E-4364-8DAA-304BF97AD2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2988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58-737F-41F1-ABFF-B96786697EF1}" type="datetimeFigureOut">
              <a:rPr lang="en-GB" smtClean="0"/>
              <a:t>13/12/2024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42B42-D43E-4364-8DAA-304BF97AD2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66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E258-737F-41F1-ABFF-B96786697EF1}" type="datetimeFigureOut">
              <a:rPr lang="en-GB" smtClean="0"/>
              <a:t>13/12/2024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42B42-D43E-4364-8DAA-304BF97AD2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56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0E258-737F-41F1-ABFF-B96786697EF1}" type="datetimeFigureOut">
              <a:rPr lang="en-GB" smtClean="0"/>
              <a:t>13/12/2024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42B42-D43E-4364-8DAA-304BF97AD27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32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J STANT SET W/GUIDE WIRE 4.7FR MARFLOW | Super Health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78" b="89778" l="7556" r="94222">
                        <a14:backgroundMark x1="59111" y1="39111" x2="59111" y2="39111"/>
                        <a14:backgroundMark x1="44000" y1="60444" x2="44000" y2="60444"/>
                        <a14:backgroundMark x1="14222" y1="67111" x2="14222" y2="67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467" y="0"/>
            <a:ext cx="6790533" cy="341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93783" y="486192"/>
            <a:ext cx="53691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i="1" u="sng" dirty="0"/>
              <a:t>URETERAL STENT </a:t>
            </a:r>
            <a:br>
              <a:rPr lang="en-US" sz="3200" b="1" i="1" u="sng" dirty="0"/>
            </a:br>
            <a:r>
              <a:rPr lang="en-US" sz="3200" b="1" i="1" u="sng" dirty="0"/>
              <a:t>OR </a:t>
            </a:r>
            <a:br>
              <a:rPr lang="en-US" sz="3200" b="1" i="1" u="sng" dirty="0"/>
            </a:br>
            <a:r>
              <a:rPr lang="en-US" sz="3200" b="1" i="1" u="sng" dirty="0"/>
              <a:t>DOUBLE J STENT (DJ STENT)</a:t>
            </a:r>
            <a:endParaRPr lang="en-GB" sz="3200" b="1" i="1" u="sng" dirty="0"/>
          </a:p>
        </p:txBody>
      </p:sp>
      <p:sp>
        <p:nvSpPr>
          <p:cNvPr id="5" name="Rectangle 4"/>
          <p:cNvSpPr/>
          <p:nvPr/>
        </p:nvSpPr>
        <p:spPr>
          <a:xfrm>
            <a:off x="93783" y="4253404"/>
            <a:ext cx="787790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PREPARED BY :            </a:t>
            </a:r>
            <a:r>
              <a:rPr lang="en-GB" sz="3200" dirty="0"/>
              <a:t>Mr, SAJID KHAN </a:t>
            </a:r>
            <a:endParaRPr lang="en-US" sz="3200" dirty="0"/>
          </a:p>
          <a:p>
            <a:r>
              <a:rPr lang="en-US" sz="3200" dirty="0"/>
              <a:t>DISCIPLINE :                 SURGICAL</a:t>
            </a:r>
          </a:p>
          <a:p>
            <a:r>
              <a:rPr lang="en-US" sz="3200" dirty="0"/>
              <a:t>SUBJECT :                     DIAGNOSTIC IMAGING 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27344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769" y="189280"/>
            <a:ext cx="5058508" cy="678228"/>
          </a:xfrm>
        </p:spPr>
        <p:txBody>
          <a:bodyPr>
            <a:normAutofit fontScale="90000"/>
          </a:bodyPr>
          <a:lstStyle/>
          <a:p>
            <a:r>
              <a:rPr lang="en-US" dirty="0"/>
              <a:t>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46" y="6831808"/>
            <a:ext cx="6254653" cy="183154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en-GB" dirty="0"/>
          </a:p>
        </p:txBody>
      </p:sp>
      <p:pic>
        <p:nvPicPr>
          <p:cNvPr id="3076" name="Picture 4" descr="Ureteric Stent Penrith, Sydney, NSW | Double J Stent Sydney, Kingswood, NS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768" y="-26193"/>
            <a:ext cx="6342185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66729"/>
            <a:ext cx="60757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DOUBLE J STENTING: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6022" y="1217925"/>
            <a:ext cx="660302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What is DJ stenting ?</a:t>
            </a:r>
          </a:p>
          <a:p>
            <a:endParaRPr lang="en-US" sz="3600" dirty="0"/>
          </a:p>
          <a:p>
            <a:r>
              <a:rPr lang="en-US" dirty="0"/>
              <a:t>A procedure in which flexible tube is placed in the ureter to help drain the urine.</a:t>
            </a:r>
          </a:p>
          <a:p>
            <a:endParaRPr lang="en-US" sz="3600" dirty="0"/>
          </a:p>
          <a:p>
            <a:r>
              <a:rPr lang="en-US" sz="3600" dirty="0"/>
              <a:t>Need to place DJ STENT ?</a:t>
            </a:r>
          </a:p>
          <a:p>
            <a:endParaRPr lang="en-US" sz="3600" dirty="0"/>
          </a:p>
          <a:p>
            <a:r>
              <a:rPr lang="en-US" dirty="0"/>
              <a:t>To prevent postoperative swelling after kidney stone removal.</a:t>
            </a:r>
          </a:p>
          <a:p>
            <a:endParaRPr lang="en-US" dirty="0"/>
          </a:p>
          <a:p>
            <a:r>
              <a:rPr lang="en-US" dirty="0"/>
              <a:t>To prevent blockage by crushed stones.</a:t>
            </a:r>
          </a:p>
          <a:p>
            <a:endParaRPr lang="en-US" dirty="0"/>
          </a:p>
          <a:p>
            <a:r>
              <a:rPr lang="en-US" dirty="0"/>
              <a:t>To heal the area quickly after surgery.</a:t>
            </a:r>
          </a:p>
          <a:p>
            <a:endParaRPr lang="en-US" dirty="0"/>
          </a:p>
          <a:p>
            <a:r>
              <a:rPr lang="en-US" dirty="0"/>
              <a:t>To prevent ureteral obstructions due to blood clots.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9121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What happens if I refuse a ureteral stent after kidney stone removal? -  Quor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9631" y="257908"/>
            <a:ext cx="45692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How is DJ stent removed ?</a:t>
            </a:r>
            <a:endParaRPr lang="en-GB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269631" y="1218852"/>
            <a:ext cx="55065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Through process of cystoscopy</a:t>
            </a:r>
          </a:p>
          <a:p>
            <a:r>
              <a:rPr lang="en-US" sz="20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Local anesthetic jelly is placed in the urinary passage 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a scope is inserted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DJ stent is visualized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Extracted using an endoscopic forceps 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685267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Ureteral Stent Placement - What is a ureteral stent - Urology Austi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8953" y="117231"/>
            <a:ext cx="31722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COMPLICATIONS :</a:t>
            </a:r>
            <a:endParaRPr lang="en-GB" sz="3200" dirty="0"/>
          </a:p>
        </p:txBody>
      </p:sp>
      <p:sp>
        <p:nvSpPr>
          <p:cNvPr id="5" name="Rectangle 4"/>
          <p:cNvSpPr/>
          <p:nvPr/>
        </p:nvSpPr>
        <p:spPr>
          <a:xfrm>
            <a:off x="128953" y="3039777"/>
            <a:ext cx="3445751" cy="261610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MINOR SIDE EFFECTS :</a:t>
            </a:r>
          </a:p>
          <a:p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Hematuria </a:t>
            </a:r>
          </a:p>
          <a:p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Dysuria </a:t>
            </a: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Frequency </a:t>
            </a:r>
          </a:p>
          <a:p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Flank</a:t>
            </a: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Supra pubic pain</a:t>
            </a:r>
          </a:p>
          <a:p>
            <a:pPr algn="ctr"/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17298" y="2901277"/>
            <a:ext cx="3368037" cy="289310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MAJOR SIDE EFFECTS:</a:t>
            </a:r>
          </a:p>
          <a:p>
            <a:pPr algn="ctr"/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Vesico –ureteric reflux</a:t>
            </a:r>
          </a:p>
          <a:p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Migration</a:t>
            </a: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Encrustation</a:t>
            </a:r>
          </a:p>
          <a:p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Urinary infection</a:t>
            </a: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Stent fracture</a:t>
            </a:r>
          </a:p>
          <a:p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Necrosis</a:t>
            </a: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Ureteroarterial fistula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20041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83700" y="1818474"/>
            <a:ext cx="7803996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13800" b="1" cap="none" spc="0" dirty="0">
                <a:ln/>
                <a:solidFill>
                  <a:schemeClr val="accent3"/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34164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432</TotalTime>
  <Words>151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 </vt:lpstr>
      <vt:lpstr>PowerPoint Presentation</vt:lpstr>
      <vt:lpstr>PowerPoint Presentation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URETERAL STENT  OR  DOUBLE J STENT (DJ STENT)</dc:title>
  <dc:creator>Moorche</dc:creator>
  <cp:lastModifiedBy>sajidkhanbettani7@gmail.com</cp:lastModifiedBy>
  <cp:revision>15</cp:revision>
  <dcterms:created xsi:type="dcterms:W3CDTF">2022-09-30T07:25:39Z</dcterms:created>
  <dcterms:modified xsi:type="dcterms:W3CDTF">2024-12-13T06:18:50Z</dcterms:modified>
</cp:coreProperties>
</file>